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0"/>
  </p:notes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9" r:id="rId17"/>
    <p:sldId id="284" r:id="rId18"/>
    <p:sldId id="285" r:id="rId19"/>
    <p:sldId id="278" r:id="rId20"/>
    <p:sldId id="281" r:id="rId21"/>
    <p:sldId id="282" r:id="rId22"/>
    <p:sldId id="283" r:id="rId23"/>
    <p:sldId id="277" r:id="rId24"/>
    <p:sldId id="276" r:id="rId25"/>
    <p:sldId id="280" r:id="rId26"/>
    <p:sldId id="271" r:id="rId27"/>
    <p:sldId id="272" r:id="rId28"/>
    <p:sldId id="275" r:id="rId2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067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C726-11FD-D59D-7D73-61CCE4A6E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D627C7-2C5B-8B6F-61C2-20CFCC22F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F86EE-73D7-F1D8-3930-0D9297ED7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D2A46-2BD1-A30D-BE2D-7238C2A7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9B7E8-DC70-5C8F-CBC5-672FEC8A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1109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9F9C-9584-C1A0-8667-FDF9A7FC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18307-4BD0-3161-6EC1-4936CC5EA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0D8EA-EEB2-E0BB-042E-789CBD07B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AAC01-7609-C8AE-47C6-1C0C01F50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C10EA-A68C-E605-4A67-13172B441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59124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94062-0675-0731-979F-0C682529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9C398-16AA-3200-DB3E-764E65080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14629-8DF2-88BA-9082-5971A8B3D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4D676-80F9-89F1-9C18-53826AA63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C784E-532D-24D0-8AA7-AAF9CBF5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1520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4CF6-E954-EFE1-5740-6EA5C5EC7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31940-2F8A-01A5-5B38-44DF193B36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3F355B-F808-A0B2-D3D3-A5C5B002D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A2F71-AF89-0184-9536-4C195B30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AE8C9-0354-3670-DAD1-A9D104F37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86C0E-8465-98E2-CBF2-BE85475B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72777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0A3AF-A02A-C9F7-8B1B-0E1E48541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56776-DFB7-C02F-83AE-E84DE8C6E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3296C-89A5-BEF8-2D1D-AC6707672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89E7DA-C641-F4E9-00B4-DF53DF8AC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1227A-EC08-1CA3-F628-27E7E8E094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B4990-54C4-3ACD-31C1-5108689CB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D29E83-F983-C6F6-F23C-21B52DAF8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215DD-2C02-D934-1055-0DD92FDE1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9428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F7C9-95F4-2C1C-B538-4E40981E5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A9EC9-DD23-1286-FC50-02A4C9758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8395F-49AA-37EB-9D55-092E39719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CDB2F-2D73-C627-DB79-08A6B2D9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9953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632421-6A11-E824-D181-38BAFBD84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674A8-288D-28B4-EEFB-EFCA2FFAD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529BF-4C52-408E-7B2C-10FC8AB65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9856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57B98-C75B-61DD-5000-6EDCD51B0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6871C-FC3E-31F2-2B20-BD708606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28ED8A-AFD3-347D-76CE-DA659F910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A052E-0590-849D-56C9-411CA49E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0D7BB-3EEA-862E-982B-D929EF94A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FF15B-9752-44CF-3DEC-5BF992D6D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092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1F473-BFBF-B3A6-8DB0-86B1E309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C1FA93-7DC7-133C-2139-29E2E75B2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FE3E8-6D29-89C4-A7DE-4A3EBFBC7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F5DA0-4A59-3762-F3D3-085C52611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5C4A3-2180-3989-D89A-6E6FD56AB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959EB-D621-50B1-4B67-5BF5F6943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8665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8F446-FCE4-5748-E61E-256D15495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8C798-7117-A162-E452-7D2A6A72E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56191-B17C-C597-0229-1BFCEBFCA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1892D-5568-4B35-00CA-485807F1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B44F1-BAEC-DBCB-7BEE-D01150A76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6867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F9FC7F-1AAF-2A00-6725-438089554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1E835-EE8D-ACD6-B8CB-32A177163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39FEB-CAE6-EBAE-7CF9-B66F1B28E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B0C7F-432F-91CB-855B-50199FEF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E4342-69D1-760C-3D15-53556ACF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41365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458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E03006-13E9-09D4-B40A-6604AB7AC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5E85E-806E-B00D-4DCE-2075BF62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9127B-9795-19F4-E3B8-AB7E538472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64919-7B1C-238F-28CC-9799D175B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DBF6F-3902-B95B-2F23-57944B918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6">
            <a:extLst>
              <a:ext uri="{FF2B5EF4-FFF2-40B4-BE49-F238E27FC236}">
                <a16:creationId xmlns:a16="http://schemas.microsoft.com/office/drawing/2014/main" id="{5A4C5035-5741-F80B-4DCA-9A0AFD9BA670}"/>
              </a:ext>
            </a:extLst>
          </p:cNvPr>
          <p:cNvSpPr/>
          <p:nvPr/>
        </p:nvSpPr>
        <p:spPr>
          <a:xfrm>
            <a:off x="431358" y="188446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AI-Based Patent Document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Using Transformer Models</a:t>
            </a:r>
            <a:endParaRPr lang="en-US" sz="38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7687795D-1413-2444-A165-146341A1F06B}"/>
              </a:ext>
            </a:extLst>
          </p:cNvPr>
          <p:cNvSpPr/>
          <p:nvPr/>
        </p:nvSpPr>
        <p:spPr>
          <a:xfrm>
            <a:off x="431358" y="36218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hierarchical, explainable Transformer framework for IPC / CPC patent classification</a:t>
            </a:r>
            <a:endParaRPr lang="en-US" sz="15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BA8DEA78-855D-3E22-8F4C-CFE2A04DE2A0}"/>
              </a:ext>
            </a:extLst>
          </p:cNvPr>
          <p:cNvSpPr/>
          <p:nvPr/>
        </p:nvSpPr>
        <p:spPr>
          <a:xfrm>
            <a:off x="431358" y="52494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KLH University</a:t>
            </a:r>
            <a:endParaRPr lang="en-US" sz="12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5EAC4772-E471-DE84-C3E7-3CA33C9A4A25}"/>
              </a:ext>
            </a:extLst>
          </p:cNvPr>
          <p:cNvSpPr/>
          <p:nvPr/>
        </p:nvSpPr>
        <p:spPr>
          <a:xfrm>
            <a:off x="431358" y="58438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Batch – 11</a:t>
            </a:r>
          </a:p>
          <a:p>
            <a:pPr marL="0" indent="0">
              <a:buNone/>
            </a:pPr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2420030504 – Vikas Suthar</a:t>
            </a:r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2420030446 - Prakash Chawla</a:t>
            </a:r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2420030486 – Vamshi</a:t>
            </a:r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2420030791 – Om Panday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4DF734-08DC-7CD5-B93A-D90A49A64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227" y="-280490"/>
            <a:ext cx="209550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533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61288" y="160020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61288" y="256032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Proposed Framework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61288" y="352044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61288" y="448056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Identification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502920" cy="502920"/>
          </a:xfrm>
          <a:prstGeom prst="ellipse">
            <a:avLst/>
          </a:prstGeom>
          <a:solidFill>
            <a:srgbClr val="EE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67728" y="160020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Innovation, Creativity &amp; Novelty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2606040"/>
            <a:ext cx="502920" cy="502920"/>
          </a:xfrm>
          <a:prstGeom prst="ellipse">
            <a:avLst/>
          </a:prstGeom>
          <a:solidFill>
            <a:srgbClr val="EEF1F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67728" y="256032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Analysis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3566160"/>
            <a:ext cx="502920" cy="502920"/>
          </a:xfrm>
          <a:prstGeom prst="ellipse">
            <a:avLst/>
          </a:prstGeom>
          <a:solidFill>
            <a:srgbClr val="EEF1FA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67728" y="352044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&amp; Workflow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09360" y="4526280"/>
            <a:ext cx="502920" cy="502920"/>
          </a:xfrm>
          <a:prstGeom prst="ellipse">
            <a:avLst/>
          </a:prstGeom>
          <a:solidFill>
            <a:srgbClr val="EEF1FA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67728" y="448056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Sources &amp; References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6A1BFEF-D4E1-458A-3CCA-853F3E844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227" y="-282479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029200" cy="4709160"/>
          </a:xfrm>
          <a:prstGeom prst="roundRect">
            <a:avLst>
              <a:gd name="adj" fmla="val 233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343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 AI-based patent document classification system using Transformer models that accurately categorizes patents into IPC/CPC taxonomies while providing interpretable explanations for classification decisions — addressing hierarchical inconsistency, poor long-tail performance, and limited cross-jurisdictional generalization.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53949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70,000+ IPC codes  •  5 hierarchical levels  •  3M+ patents filed annually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1536192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327648" y="1426464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classification bottleneck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27648" y="1700784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Examiners spend 20-30% of time on classification, driving up backlog.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286000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6327648" y="2176272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limitations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7648" y="2450592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/ Random Forest / KNN need heavy feature engineering, miss semantic nuance.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035808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292608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inconsistency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27648" y="3200400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multi-label models ignore parent-child taxonomy relationships.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785616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3675888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explainability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27648" y="3950208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AI decisions are unacceptable in legal / patent-office contexts.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4535424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>
          <a:xfrm>
            <a:off x="6327648" y="4425696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performance gap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27648" y="4700016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technologies with few examples are routinely misclassified.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5285232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327648" y="5175504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Cross-jurisdictional generalization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327648" y="5477654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USPTO degrade sharply on EPO or WIPO filings.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BE6035C-D1DF-6BBF-1673-755A41EA5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227" y="-282479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objective: build a Hierarchical Transformer-based Patent Classification Framework that…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4712" y="1911096"/>
            <a:ext cx="6053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accurately across all 5 levels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4712" y="2185416"/>
            <a:ext cx="6053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→ Class → Subclass → Group → Subgroup of the IPC/CPC taxonomy.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8072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24712" y="2752344"/>
            <a:ext cx="6053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hierarchical consistency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24712" y="3026664"/>
            <a:ext cx="6053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loss functions + constrained inference stop parent-child violations.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64845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24712" y="3593592"/>
            <a:ext cx="6053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every prediction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24712" y="3867912"/>
            <a:ext cx="6053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 and attention visualization make decisions auditable for legal use.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48970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489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4712" y="4434840"/>
            <a:ext cx="6053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across jurisdictions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24712" y="4709160"/>
            <a:ext cx="6053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Multi-dataset training and evaluation on USPTO, CLEF-IP and WIPO filings.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3309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24712" y="5276088"/>
            <a:ext cx="6053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rare / emerging technologies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" y="5550408"/>
            <a:ext cx="6053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and few-shot learning lift long-tail class performance.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01000" y="187452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/ CPC HIERARCHY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75320" y="251460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(A–H)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67344" y="3172968"/>
            <a:ext cx="263347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467344" y="3172968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(A01)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659368" y="3831336"/>
            <a:ext cx="2249424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659368" y="3831336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 (A01B)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851392" y="4489704"/>
            <a:ext cx="1865376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851392" y="4489704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 (A01B1/00)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043416" y="5148072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D9A441"/>
          </a:solidFill>
          <a:ln/>
        </p:spPr>
      </p:sp>
      <p:sp>
        <p:nvSpPr>
          <p:cNvPr id="36" name="Text 34"/>
          <p:cNvSpPr/>
          <p:nvPr/>
        </p:nvSpPr>
        <p:spPr>
          <a:xfrm>
            <a:off x="9043416" y="5148072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 (A01B1/02)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2439D41-00A1-6644-7CDF-238A5147D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227" y="-282479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Framework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Layer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566160" y="155448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document: abstract + claims + description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10800000">
            <a:off x="4672584" y="2258568"/>
            <a:ext cx="164592" cy="128016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37744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EEF1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6160" y="237744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segmentation, domain tokenization, technical-term handling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10800000">
            <a:off x="4672584" y="3081528"/>
            <a:ext cx="164592" cy="128016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320040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0040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Encoder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66160" y="320040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SciBERT / Legal-BERT — multi-head self-attention (12–16 heads) + FFN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4672584" y="3904488"/>
            <a:ext cx="164592" cy="128016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402336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EE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Classification Head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66160" y="402336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5-level softmax heads with hierarchical loss + constrained inference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4672584" y="4727448"/>
            <a:ext cx="164592" cy="128016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484632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4632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Module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566160" y="484632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LIME, attention visualization, faithfulness evaluation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10800000">
            <a:off x="4672584" y="5550408"/>
            <a:ext cx="164592" cy="128016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566928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EEF1F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66928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Layer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566160" y="566928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IPC/CPC codes, confidence scores, explanations, attention heatmaps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0" y="1554480"/>
            <a:ext cx="2514600" cy="4709160"/>
          </a:xfrm>
          <a:prstGeom prst="roundRect">
            <a:avLst>
              <a:gd name="adj" fmla="val 4364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0" y="17373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FROM DAY ONE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326880" y="218541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0" name="Text 28"/>
          <p:cNvSpPr/>
          <p:nvPr/>
        </p:nvSpPr>
        <p:spPr>
          <a:xfrm>
            <a:off x="9582912" y="2039112"/>
            <a:ext cx="1892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Domain-adapted encoders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326880" y="319125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2" name="Text 30"/>
          <p:cNvSpPr/>
          <p:nvPr/>
        </p:nvSpPr>
        <p:spPr>
          <a:xfrm>
            <a:off x="9582912" y="3044952"/>
            <a:ext cx="1892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consistency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326880" y="419709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4" name="Text 32"/>
          <p:cNvSpPr/>
          <p:nvPr/>
        </p:nvSpPr>
        <p:spPr>
          <a:xfrm>
            <a:off x="9582912" y="4050792"/>
            <a:ext cx="1892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Explainability-first design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326880" y="520293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6" name="Text 34"/>
          <p:cNvSpPr/>
          <p:nvPr/>
        </p:nvSpPr>
        <p:spPr>
          <a:xfrm>
            <a:off x="9582912" y="5056632"/>
            <a:ext cx="1892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training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199C6FF-57CB-C1BF-864A-6D77B1EC8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227" y="-282479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Framework Answers Each Limitation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41148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It Addresses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classification head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softmax layer per IPC level with consistency enforcement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inconsistency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Domain-adapted transformers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SciBERT (scientific text) + Legal-BERT (legal text)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semantic understanding of patent 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integration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+ LIME + attention visualization with faithfulness evaluation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Lack of explainability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Multi-dataset training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 + CLEF-IP 2011 + WIPO subset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cross-jurisdictional generalization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Long-tail handling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augmentation + few-shot 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Long-tail performance 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3E3A40-14B8-AE85-54AE-721020732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227" y="-282479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201400" cy="489204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PatentBERT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(Lee &amp; Hsiang, 2020)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fine-tuned on patent claims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66.80% on CPC (9 classes)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claims only; limited to 9 classes; no explainability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USPTO-3M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SciBERT-based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(Risch et al., 2020)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SciBERT (domain-adapted)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Outperforms standard BERT on patent tasks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tuned for legal language; limited explainability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Patent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(Pujari et al., 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ML + Transformer features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F1: 0.68–0.72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context understanding; struggles with complex taxonomies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CLEF-IP 2011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(Yadrintsev et al., 2022)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Linguistically-supported 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 to fastText; strong with limited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feature engineering; limited semantic nuance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CLEF-IP (699K patents)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7F076A-B964-94C1-C72C-1D52A221F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2180" y="-191039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201400" cy="489204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PatentSBERTa + 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(Bekamiri et al., 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Sentence-BERT + 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66.0% on CPC (663 classes)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Similarity-focused; not optimized for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patent dataset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LSG-Norm Attention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(Condevaux &amp; Harispe, 2023)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LSG-Norm attention (128/4)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Micro-F1: 70.0%; Macro-F1: 64.4%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custom attention; limited cross-dataset 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ccdv/patent-classification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PCT-BERT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(Sahu et al., 2023)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 + LLM-generated summaries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0.86 (state-of-the-art)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extra LLM inference; prompt optimization understudied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H-ProtoRAG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(Xie et al., 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retrieval-augmented generation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0.87 (then-current SOTA)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architecture; limited cross-dataset evaluation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 + WIPO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9C1B85-BA8D-8F45-6A1D-0E8AFE0F7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201199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201400" cy="489204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for Patent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(Emer et al.,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/ SciBERT / PatentSBERTa vs. zero-/few-shot LLMs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Encoders excel on frequent classes; LLMs better on rare tech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~3 orders of magnitude slower / costlier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Patent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(Lin,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/ T5 / DeepSeek + LoRA + quantization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slightly outperforms DeepSeek; both viable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to IPC G06 class; Chinese patents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Taiwan Patent Data (2021–2025)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XLNet-based Pretraining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(Lis &amp; Rutkowski,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XLNet self-supervised pretraining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Scalable, robust classification method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Computationally intensive; limited public implementation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 / WIPO patent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(Ayaou &amp; Cavallucci, 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Multi-task training on 15 tasks (2.06M examples)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Multi-task training improves external generalization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trade-offs across benchmark tasks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PatenTEB benchmark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6015F2-358D-5990-64CA-A93899306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227" y="-226378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PRIOR WORK FALLS SHORT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Consistency Modeling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treat IPC/CPC as flat multi-label prediction.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violate parent-child taxonomy constraints, undermining prior-art search.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loss functions + constrained inference.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307738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72330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4472330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66106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08906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focuses on accuracy; explanation quality is rarely evaluated.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AI decisions are unacceptable in legal settings; low examiner trust.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LIME + attention, with faithfulness / trust studies.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112557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7149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8277149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0925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Cross-Jurisdictional Generalization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13725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models are trained and evaluated on USPTO alone.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systems fail on EPO / WIPO patents with different structures.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Multi-dataset training and evaluation: USPTO-70k + CLEF-IP + WIPO.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12F37C7-C258-AAEC-ECCC-157E209DB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PRIOR WORK FALLS SHORT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Technology Classification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across the taxonomy.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innovations in nascent fields are misclassified or missed.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(paraphrasing, sentence shuffling) + few-shot learning.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307738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72330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4472330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66106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vs. Performance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08906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help on rare classes but cost ~3 orders of magnitude more to run.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deployment is limited by compute and environmental cost.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encoders (SciBERT/Legal-BERT) for frequent classes, augmented data for the tail.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112557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7149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8277149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0925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Integration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13725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is almost exclusively text-only; drawings are ignored.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Visual-centric (mechanical, design) patents risk misclassification.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future work: Vision Transformers for patent drawings.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9FCA467-AF11-F53D-3681-823017A5E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THIS APART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42062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Novelty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consistency enforcement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Specialized loss + constrained inference for taxonomic consistency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Explainability-first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SHAP/LIME built in from the start, not bolted on afterward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Cross-jurisdictional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evaluation across USPTO, EPO and WIPO datasets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Medium–High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encoder + LLM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encoders plus augmentation for long-tail categories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C9A812-43C1-CD5D-262B-2F9F20802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CHOICES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Creativity &amp; Novelty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938528"/>
            <a:ext cx="4718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Section-weighted 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2231136"/>
            <a:ext cx="4718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&gt; Descriptions &gt; Abstracts, with learned attention weights per section.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3081528"/>
            <a:ext cx="4718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Patent-specific augmentation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3374136"/>
            <a:ext cx="4718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shuffling (claims are often independent) + domain-adapted paraphrasing.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11480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4224528"/>
            <a:ext cx="4718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explanation dashboard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" y="4517136"/>
            <a:ext cx="4718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+ natural-language rationales for examiners to explore and validate.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0936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88366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7830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design:  </a:t>
            </a:r>
            <a:r>
              <a:rPr lang="en-US" sz="108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framework to combine hierarchical classification, explainability, cross-dataset evaluation and long-tail optimization in one system.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309360" y="275234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6517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loss:  </a:t>
            </a:r>
            <a:r>
              <a:rPr lang="en-US" sz="108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loss that penalizes parent-child violations, weighted by taxonomic distance.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09360" y="362102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5204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protocol:  </a:t>
            </a:r>
            <a:r>
              <a:rPr lang="en-US" sz="108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Multi-dimensional: classification metrics + hierarchical metrics + explainability faithfulness.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309360" y="448970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3891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Resource-constrained approach:  </a:t>
            </a:r>
            <a:r>
              <a:rPr lang="en-US" sz="108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competitive performance under limited compute budgets.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106D4D-B958-A961-614C-2DDE06162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BUILD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— Technical &amp; Resources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6309360" cy="35661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BERT, RoBERTa, SciBERT, Legal-BERT on Hugging 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USPTO-70k, CLEF-IP 2011, WIPO publicly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resources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GPU needed (Colab Pro or similar) for fine-tuning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standard PyTorch + Hugging Face ecosystem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SHAP and LIME libraries are readily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949440" y="1371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REQUIREMENTS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949440" y="1737360"/>
            <a:ext cx="4754880" cy="896112"/>
          </a:xfrm>
          <a:prstGeom prst="roundRect">
            <a:avLst>
              <a:gd name="adj" fmla="val 10204"/>
            </a:avLst>
          </a:prstGeom>
          <a:solidFill>
            <a:srgbClr val="F7F8FC"/>
          </a:solidFill>
          <a:ln/>
        </p:spPr>
      </p:sp>
      <p:sp>
        <p:nvSpPr>
          <p:cNvPr id="8" name="Text 5"/>
          <p:cNvSpPr/>
          <p:nvPr/>
        </p:nvSpPr>
        <p:spPr>
          <a:xfrm>
            <a:off x="7150608" y="182880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50608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T4-class GPU — approx. $0.50–$1.00/hr (Colab Pro)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949440" y="2788920"/>
            <a:ext cx="4754880" cy="896112"/>
          </a:xfrm>
          <a:prstGeom prst="roundRect">
            <a:avLst>
              <a:gd name="adj" fmla="val 10204"/>
            </a:avLst>
          </a:prstGeom>
          <a:solidFill>
            <a:srgbClr val="F7F8FC"/>
          </a:solidFill>
          <a:ln/>
        </p:spPr>
      </p:sp>
      <p:sp>
        <p:nvSpPr>
          <p:cNvPr id="11" name="Text 8"/>
          <p:cNvSpPr/>
          <p:nvPr/>
        </p:nvSpPr>
        <p:spPr>
          <a:xfrm>
            <a:off x="7150608" y="28803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150608" y="3154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3.8+, PyTorch, Hugging Face Transformers — free / open-source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49440" y="3840480"/>
            <a:ext cx="4754880" cy="896112"/>
          </a:xfrm>
          <a:prstGeom prst="roundRect">
            <a:avLst>
              <a:gd name="adj" fmla="val 10204"/>
            </a:avLst>
          </a:prstGeom>
          <a:solidFill>
            <a:srgbClr val="F7F8FC"/>
          </a:solidFill>
          <a:ln/>
        </p:spPr>
      </p:sp>
      <p:sp>
        <p:nvSpPr>
          <p:cNvPr id="14" name="Text 11"/>
          <p:cNvSpPr/>
          <p:nvPr/>
        </p:nvSpPr>
        <p:spPr>
          <a:xfrm>
            <a:off x="7150608" y="3931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250" dirty="0"/>
          </a:p>
        </p:txBody>
      </p:sp>
      <p:sp>
        <p:nvSpPr>
          <p:cNvPr id="5" name="Text 12"/>
          <p:cNvSpPr/>
          <p:nvPr/>
        </p:nvSpPr>
        <p:spPr>
          <a:xfrm>
            <a:off x="7150608" y="4206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100–200 GB for datasets — Google Drive / Cloud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949440" y="4892040"/>
            <a:ext cx="4754880" cy="896112"/>
          </a:xfrm>
          <a:prstGeom prst="roundRect">
            <a:avLst>
              <a:gd name="adj" fmla="val 10204"/>
            </a:avLst>
          </a:prstGeom>
          <a:solidFill>
            <a:srgbClr val="F7F8FC"/>
          </a:solidFill>
          <a:ln/>
        </p:spPr>
      </p:sp>
      <p:sp>
        <p:nvSpPr>
          <p:cNvPr id="17" name="Text 14"/>
          <p:cNvSpPr/>
          <p:nvPr/>
        </p:nvSpPr>
        <p:spPr>
          <a:xfrm>
            <a:off x="7150608" y="49834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150608" y="5257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weeks project duration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F07E857-AA88-59D4-B1E3-A3F0CF326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BUILD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— Risk Assessment &amp; Mitigation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449884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compute resources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RoBERTa/BERT instead of LLMs; apply LoRA for memory efficiency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on small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augmentation, early stopping, cross-validation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Long-text token limits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Section-level processing; Longformer if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imbalance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weighting, data augmentation, few-shot learning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evaluation is hard to define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 clear faithfulness metrics established in prior literature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0350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project is technically feasible — pre-trained models, public datasets and established tooling are all in place; key challenges are well-defined and addressable within the timeline.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077B7B-3F07-2B15-FB34-6E726AC24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6500079A-712C-BE0B-CEA7-31CB6DF21AC1}"/>
              </a:ext>
            </a:extLst>
          </p:cNvPr>
          <p:cNvSpPr/>
          <p:nvPr/>
        </p:nvSpPr>
        <p:spPr>
          <a:xfrm>
            <a:off x="661475" y="607484"/>
            <a:ext cx="10868745" cy="56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End-to-End Research Workflow</a:t>
            </a: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40C87C0F-266E-9276-6CDF-2AC148E88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048246"/>
            <a:ext cx="9753356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927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B1994B-1893-7850-5170-F35041C12154}"/>
              </a:ext>
            </a:extLst>
          </p:cNvPr>
          <p:cNvSpPr txBox="1"/>
          <p:nvPr/>
        </p:nvSpPr>
        <p:spPr>
          <a:xfrm>
            <a:off x="142240" y="172720"/>
            <a:ext cx="5953760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Methodology – </a:t>
            </a:r>
            <a:r>
              <a:rPr lang="en-IN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PatentClass</a:t>
            </a:r>
            <a:r>
              <a:rPr lang="en-IN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-HAT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Attention Transformer for Explainable Patent Classification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Patent Dataset Collection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patent datasets such as USPTO-3M, HUPD, and BIGPATENT.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patent titles, abstracts, claims, descriptions, and CPC labels.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Text Cleaning and Normalization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patent documents.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unwanted symbols and noise.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the text for model training.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Section Extraction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four important patent sections: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Claims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the sections separate for better understanding.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44A46A-A1DE-8CD1-3E2B-61A848732149}"/>
              </a:ext>
            </a:extLst>
          </p:cNvPr>
          <p:cNvSpPr txBox="1"/>
          <p:nvPr/>
        </p:nvSpPr>
        <p:spPr>
          <a:xfrm>
            <a:off x="6096000" y="191195"/>
            <a:ext cx="654304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Long-Document Chunking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long patent documents into smaller text chunks.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overlapping sliding windows.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the model process lengthy patent documents.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Transformer Encoding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BERT-based transformer to understand patent text.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text into contextual numerical representations.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the meaning of words and sentences.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Hierarchical Attention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chunk-level attention to identify important text chunks.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section-level attention to identify important patent sections.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the information to create a document representation.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CPC Label Prediction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hierarchical multi-label classification.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one or more CPC patent classification labels.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sigmoid activation for label probabilities.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8: Explanation Generation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confidence scores for predictions.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patent sections.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evidence text that supports the predicted labels.</a:t>
            </a:r>
          </a:p>
        </p:txBody>
      </p:sp>
    </p:spTree>
    <p:extLst>
      <p:ext uri="{BB962C8B-B14F-4D97-AF65-F5344CB8AC3E}">
        <p14:creationId xmlns:p14="http://schemas.microsoft.com/office/powerpoint/2010/main" val="248031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7890BF-37D1-941E-93A8-C3359ED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7"/>
            <a:ext cx="12192000" cy="684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785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C23DC63E-10F0-0C81-BF1F-8F1D8DC8BA98}"/>
              </a:ext>
            </a:extLst>
          </p:cNvPr>
          <p:cNvSpPr/>
          <p:nvPr/>
        </p:nvSpPr>
        <p:spPr>
          <a:xfrm>
            <a:off x="640639" y="38685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PatentClass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-HAT</a:t>
            </a: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Architecture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6DC1C211-B56A-ED74-8078-DA433CF01C6D}"/>
              </a:ext>
            </a:extLst>
          </p:cNvPr>
          <p:cNvSpPr/>
          <p:nvPr/>
        </p:nvSpPr>
        <p:spPr>
          <a:xfrm>
            <a:off x="454027" y="1938529"/>
            <a:ext cx="4028776" cy="3912592"/>
          </a:xfrm>
          <a:prstGeom prst="roundRect">
            <a:avLst>
              <a:gd name="adj" fmla="val 1650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48788EEB-7B5E-506D-3751-EC5A79682894}"/>
              </a:ext>
            </a:extLst>
          </p:cNvPr>
          <p:cNvSpPr/>
          <p:nvPr/>
        </p:nvSpPr>
        <p:spPr>
          <a:xfrm>
            <a:off x="687866" y="2471447"/>
            <a:ext cx="393432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Input Sections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BF2CED4-8B2C-97A3-745A-F3AFC39CB98E}"/>
              </a:ext>
            </a:extLst>
          </p:cNvPr>
          <p:cNvSpPr/>
          <p:nvPr/>
        </p:nvSpPr>
        <p:spPr>
          <a:xfrm>
            <a:off x="687866" y="2666312"/>
            <a:ext cx="3934322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Title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Abstract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Claims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Description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9E367E9D-FD07-9F50-9E0E-54A5AED11166}"/>
              </a:ext>
            </a:extLst>
          </p:cNvPr>
          <p:cNvSpPr/>
          <p:nvPr/>
        </p:nvSpPr>
        <p:spPr>
          <a:xfrm>
            <a:off x="687866" y="3216579"/>
            <a:ext cx="393432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Processing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35772F37-4763-F827-08E5-A35863F2581E}"/>
              </a:ext>
            </a:extLst>
          </p:cNvPr>
          <p:cNvSpPr/>
          <p:nvPr/>
        </p:nvSpPr>
        <p:spPr>
          <a:xfrm>
            <a:off x="687866" y="3411445"/>
            <a:ext cx="3934322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Cleaning &amp; Normalization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Tokenization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Overlapping Chunking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71A6005B-A21A-37C2-5197-07D56A0CBFB1}"/>
              </a:ext>
            </a:extLst>
          </p:cNvPr>
          <p:cNvSpPr/>
          <p:nvPr/>
        </p:nvSpPr>
        <p:spPr>
          <a:xfrm>
            <a:off x="687866" y="3831835"/>
            <a:ext cx="393432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Output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5834A7F0-4257-F1B0-D2D6-7024FD967CB4}"/>
              </a:ext>
            </a:extLst>
          </p:cNvPr>
          <p:cNvSpPr/>
          <p:nvPr/>
        </p:nvSpPr>
        <p:spPr>
          <a:xfrm>
            <a:off x="687866" y="4026700"/>
            <a:ext cx="3934322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CPC Labels + Confidence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Important Sections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Important Chunks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Evidence Text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57BA61EA-0C25-25CE-DFA1-9F31953B7E35}"/>
              </a:ext>
            </a:extLst>
          </p:cNvPr>
          <p:cNvSpPr/>
          <p:nvPr/>
        </p:nvSpPr>
        <p:spPr>
          <a:xfrm>
            <a:off x="687866" y="4724606"/>
            <a:ext cx="393432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Application Stack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7B7D8BC2-899A-D77C-86EF-B381BB18CA2E}"/>
              </a:ext>
            </a:extLst>
          </p:cNvPr>
          <p:cNvSpPr/>
          <p:nvPr/>
        </p:nvSpPr>
        <p:spPr>
          <a:xfrm>
            <a:off x="687866" y="4919471"/>
            <a:ext cx="3934322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React Frontend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FastAPI Backend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PyTorch Model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Optional PostgreSQL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C54AD1D9-CF45-3746-297F-609150CD0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736" y="945033"/>
            <a:ext cx="6502237" cy="592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03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93E970-F4DE-DA58-8538-C9B4C06C2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544729"/>
            <a:ext cx="11963400" cy="620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EF3156-6400-A90C-5A2F-090955455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" y="0"/>
            <a:ext cx="12085320" cy="641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07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A0C663-F8F8-F516-233C-1E45AF202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99060"/>
            <a:ext cx="12001500" cy="580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96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82F7E5A1-648C-12AB-43C9-774F7DA341E7}"/>
              </a:ext>
            </a:extLst>
          </p:cNvPr>
          <p:cNvSpPr/>
          <p:nvPr/>
        </p:nvSpPr>
        <p:spPr>
          <a:xfrm>
            <a:off x="661475" y="861913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Modern Tools &amp; Technologies</a:t>
            </a: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47414788-70F0-C1EE-E4FB-C5033F73AC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28961"/>
            <a:ext cx="307074" cy="307082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CF085197-635D-E38F-4BAF-40BE17B32F57}"/>
              </a:ext>
            </a:extLst>
          </p:cNvPr>
          <p:cNvSpPr/>
          <p:nvPr/>
        </p:nvSpPr>
        <p:spPr>
          <a:xfrm>
            <a:off x="661475" y="1992015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Programming</a:t>
            </a:r>
            <a:endParaRPr lang="en-US" sz="15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B1A8061B-BAF6-D0DA-612B-F6202A4ACF45}"/>
              </a:ext>
            </a:extLst>
          </p:cNvPr>
          <p:cNvSpPr/>
          <p:nvPr/>
        </p:nvSpPr>
        <p:spPr>
          <a:xfrm>
            <a:off x="661475" y="2306737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Python, Pandas, NumPy, Scikit-learn</a:t>
            </a:r>
            <a:endParaRPr lang="en-US" sz="1200" dirty="0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0F85F5FA-457F-EDD6-2894-B792CFB1D9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3831" y="1528961"/>
            <a:ext cx="307074" cy="307082"/>
          </a:xfrm>
          <a:prstGeom prst="rect">
            <a:avLst/>
          </a:prstGeom>
        </p:spPr>
      </p:pic>
      <p:sp>
        <p:nvSpPr>
          <p:cNvPr id="17" name="Text 5">
            <a:extLst>
              <a:ext uri="{FF2B5EF4-FFF2-40B4-BE49-F238E27FC236}">
                <a16:creationId xmlns:a16="http://schemas.microsoft.com/office/drawing/2014/main" id="{54D8A718-7B36-BEF8-0A93-D715FEA8FD0D}"/>
              </a:ext>
            </a:extLst>
          </p:cNvPr>
          <p:cNvSpPr/>
          <p:nvPr/>
        </p:nvSpPr>
        <p:spPr>
          <a:xfrm>
            <a:off x="6173831" y="1992015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E57DF8B-887D-7ADC-1BCD-CFBB5901BFC9}"/>
              </a:ext>
            </a:extLst>
          </p:cNvPr>
          <p:cNvSpPr/>
          <p:nvPr/>
        </p:nvSpPr>
        <p:spPr>
          <a:xfrm>
            <a:off x="6173831" y="2306737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PyTorch, Hugging Face Transformers, MLflow, TensorBoard</a:t>
            </a:r>
            <a:endParaRPr lang="en-US" sz="1200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2363939D-CCAB-A20C-EB84-B2394901E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778919"/>
            <a:ext cx="307074" cy="307082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2623EEA5-B785-098C-7544-C17B0C3E385E}"/>
              </a:ext>
            </a:extLst>
          </p:cNvPr>
          <p:cNvSpPr/>
          <p:nvPr/>
        </p:nvSpPr>
        <p:spPr>
          <a:xfrm>
            <a:off x="661475" y="3241973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GPU &amp; Compute</a:t>
            </a:r>
            <a:endParaRPr lang="en-US" sz="15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41BFA6BD-2F18-CF11-B708-84A107ED9A11}"/>
              </a:ext>
            </a:extLst>
          </p:cNvPr>
          <p:cNvSpPr/>
          <p:nvPr/>
        </p:nvSpPr>
        <p:spPr>
          <a:xfrm>
            <a:off x="661475" y="3556695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CUDA, NVIDIA GPU</a:t>
            </a:r>
            <a:endParaRPr lang="en-US" sz="1200" dirty="0"/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9B42A03C-B308-0611-6E89-AEEDA96FDC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3831" y="2778919"/>
            <a:ext cx="307074" cy="307082"/>
          </a:xfrm>
          <a:prstGeom prst="rect">
            <a:avLst/>
          </a:prstGeom>
        </p:spPr>
      </p:pic>
      <p:sp>
        <p:nvSpPr>
          <p:cNvPr id="29" name="Text 9">
            <a:extLst>
              <a:ext uri="{FF2B5EF4-FFF2-40B4-BE49-F238E27FC236}">
                <a16:creationId xmlns:a16="http://schemas.microsoft.com/office/drawing/2014/main" id="{A7276A99-6DF9-05B2-9755-025351EA8738}"/>
              </a:ext>
            </a:extLst>
          </p:cNvPr>
          <p:cNvSpPr/>
          <p:nvPr/>
        </p:nvSpPr>
        <p:spPr>
          <a:xfrm>
            <a:off x="6173831" y="3241973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</a:t>
            </a:r>
            <a:endParaRPr lang="en-US" sz="15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0D9CA564-08FF-7444-1349-387086013FF0}"/>
              </a:ext>
            </a:extLst>
          </p:cNvPr>
          <p:cNvSpPr/>
          <p:nvPr/>
        </p:nvSpPr>
        <p:spPr>
          <a:xfrm>
            <a:off x="6173831" y="3556695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</a:t>
            </a:r>
            <a:endParaRPr lang="en-US" sz="1200" dirty="0"/>
          </a:p>
        </p:txBody>
      </p:sp>
      <p:pic>
        <p:nvPicPr>
          <p:cNvPr id="33" name="Image 4" descr="preencoded.png">
            <a:extLst>
              <a:ext uri="{FF2B5EF4-FFF2-40B4-BE49-F238E27FC236}">
                <a16:creationId xmlns:a16="http://schemas.microsoft.com/office/drawing/2014/main" id="{8DD25C7A-9E2F-6D87-B74A-445066BA0A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028877"/>
            <a:ext cx="307074" cy="307082"/>
          </a:xfrm>
          <a:prstGeom prst="rect">
            <a:avLst/>
          </a:prstGeom>
        </p:spPr>
      </p:pic>
      <p:sp>
        <p:nvSpPr>
          <p:cNvPr id="35" name="Text 11">
            <a:extLst>
              <a:ext uri="{FF2B5EF4-FFF2-40B4-BE49-F238E27FC236}">
                <a16:creationId xmlns:a16="http://schemas.microsoft.com/office/drawing/2014/main" id="{E20CFDD0-853C-9896-B4B7-F6D782DFA666}"/>
              </a:ext>
            </a:extLst>
          </p:cNvPr>
          <p:cNvSpPr/>
          <p:nvPr/>
        </p:nvSpPr>
        <p:spPr>
          <a:xfrm>
            <a:off x="661475" y="4491930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</a:t>
            </a:r>
            <a:endParaRPr lang="en-US" sz="150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ECC32AB5-D2A3-E3A0-1E76-8EFB1301C817}"/>
              </a:ext>
            </a:extLst>
          </p:cNvPr>
          <p:cNvSpPr/>
          <p:nvPr/>
        </p:nvSpPr>
        <p:spPr>
          <a:xfrm>
            <a:off x="661475" y="4806652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React, Tailwind CSS</a:t>
            </a:r>
            <a:endParaRPr lang="en-US" sz="1200" dirty="0"/>
          </a:p>
        </p:txBody>
      </p:sp>
      <p:pic>
        <p:nvPicPr>
          <p:cNvPr id="39" name="Image 5" descr="preencoded.png">
            <a:extLst>
              <a:ext uri="{FF2B5EF4-FFF2-40B4-BE49-F238E27FC236}">
                <a16:creationId xmlns:a16="http://schemas.microsoft.com/office/drawing/2014/main" id="{F59952B8-442E-3155-A9E5-E53E118A3F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3831" y="4028877"/>
            <a:ext cx="307074" cy="307082"/>
          </a:xfrm>
          <a:prstGeom prst="rect">
            <a:avLst/>
          </a:prstGeom>
        </p:spPr>
      </p:pic>
      <p:sp>
        <p:nvSpPr>
          <p:cNvPr id="41" name="Text 13">
            <a:extLst>
              <a:ext uri="{FF2B5EF4-FFF2-40B4-BE49-F238E27FC236}">
                <a16:creationId xmlns:a16="http://schemas.microsoft.com/office/drawing/2014/main" id="{62F7EBE3-CF7F-18B2-45BD-4C4E278D170C}"/>
              </a:ext>
            </a:extLst>
          </p:cNvPr>
          <p:cNvSpPr/>
          <p:nvPr/>
        </p:nvSpPr>
        <p:spPr>
          <a:xfrm>
            <a:off x="6173831" y="4491930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52E58EAD-43C7-F3E4-E8A6-6C35D6881B3E}"/>
              </a:ext>
            </a:extLst>
          </p:cNvPr>
          <p:cNvSpPr/>
          <p:nvPr/>
        </p:nvSpPr>
        <p:spPr>
          <a:xfrm>
            <a:off x="6173831" y="4806652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Docker, Git, GitHub</a:t>
            </a:r>
            <a:endParaRPr lang="en-US" sz="1200" dirty="0"/>
          </a:p>
        </p:txBody>
      </p:sp>
      <p:pic>
        <p:nvPicPr>
          <p:cNvPr id="45" name="Image 6" descr="preencoded.png">
            <a:extLst>
              <a:ext uri="{FF2B5EF4-FFF2-40B4-BE49-F238E27FC236}">
                <a16:creationId xmlns:a16="http://schemas.microsoft.com/office/drawing/2014/main" id="{D9078D23-75FA-FDF1-7607-1CAFF72EE9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278834"/>
            <a:ext cx="307074" cy="307082"/>
          </a:xfrm>
          <a:prstGeom prst="rect">
            <a:avLst/>
          </a:prstGeom>
        </p:spPr>
      </p:pic>
      <p:sp>
        <p:nvSpPr>
          <p:cNvPr id="47" name="Text 15">
            <a:extLst>
              <a:ext uri="{FF2B5EF4-FFF2-40B4-BE49-F238E27FC236}">
                <a16:creationId xmlns:a16="http://schemas.microsoft.com/office/drawing/2014/main" id="{D1F410EE-4A42-D1E8-8080-8ACAD5037425}"/>
              </a:ext>
            </a:extLst>
          </p:cNvPr>
          <p:cNvSpPr/>
          <p:nvPr/>
        </p:nvSpPr>
        <p:spPr>
          <a:xfrm>
            <a:off x="661475" y="5741888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Datasets</a:t>
            </a:r>
            <a:endParaRPr lang="en-US" sz="1500" dirty="0"/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F2FBD08A-BE77-195F-91A1-9DCEABFEE0D8}"/>
              </a:ext>
            </a:extLst>
          </p:cNvPr>
          <p:cNvSpPr/>
          <p:nvPr/>
        </p:nvSpPr>
        <p:spPr>
          <a:xfrm>
            <a:off x="661475" y="6056610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USPTO-3M, HUPD, BIGPATENT</a:t>
            </a:r>
            <a:endParaRPr lang="en-US" sz="1200" dirty="0"/>
          </a:p>
        </p:txBody>
      </p:sp>
      <p:pic>
        <p:nvPicPr>
          <p:cNvPr id="51" name="Image 7" descr="preencoded.png">
            <a:extLst>
              <a:ext uri="{FF2B5EF4-FFF2-40B4-BE49-F238E27FC236}">
                <a16:creationId xmlns:a16="http://schemas.microsoft.com/office/drawing/2014/main" id="{485EFEFD-D215-438A-7988-9310698966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73831" y="5278834"/>
            <a:ext cx="307074" cy="307082"/>
          </a:xfrm>
          <a:prstGeom prst="rect">
            <a:avLst/>
          </a:prstGeom>
        </p:spPr>
      </p:pic>
      <p:sp>
        <p:nvSpPr>
          <p:cNvPr id="53" name="Text 17">
            <a:extLst>
              <a:ext uri="{FF2B5EF4-FFF2-40B4-BE49-F238E27FC236}">
                <a16:creationId xmlns:a16="http://schemas.microsoft.com/office/drawing/2014/main" id="{DC4796CB-5A85-05A4-267D-A874678F04CA}"/>
              </a:ext>
            </a:extLst>
          </p:cNvPr>
          <p:cNvSpPr/>
          <p:nvPr/>
        </p:nvSpPr>
        <p:spPr>
          <a:xfrm>
            <a:off x="6173831" y="5741888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48977EBB-4A26-1D83-339F-19228F14BEAE}"/>
              </a:ext>
            </a:extLst>
          </p:cNvPr>
          <p:cNvSpPr/>
          <p:nvPr/>
        </p:nvSpPr>
        <p:spPr>
          <a:xfrm>
            <a:off x="6173831" y="6056610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Scikit-learn, Custom Hierarchical Metrics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13094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56FF8E01-0801-3116-F259-D656EC53D710}"/>
              </a:ext>
            </a:extLst>
          </p:cNvPr>
          <p:cNvSpPr/>
          <p:nvPr/>
        </p:nvSpPr>
        <p:spPr>
          <a:xfrm>
            <a:off x="661475" y="825798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Implementation</a:t>
            </a: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Steps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EEBCD0-5588-43FF-D4F4-D09047134453}"/>
              </a:ext>
            </a:extLst>
          </p:cNvPr>
          <p:cNvSpPr/>
          <p:nvPr/>
        </p:nvSpPr>
        <p:spPr>
          <a:xfrm>
            <a:off x="661475" y="1527076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D46DD1FD-DEBB-CC8E-89A0-281476E9F076}"/>
              </a:ext>
            </a:extLst>
          </p:cNvPr>
          <p:cNvSpPr/>
          <p:nvPr/>
        </p:nvSpPr>
        <p:spPr>
          <a:xfrm>
            <a:off x="661475" y="1743770"/>
            <a:ext cx="52651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A40C4DB-1AE4-EA27-B170-13BDF8F031D0}"/>
              </a:ext>
            </a:extLst>
          </p:cNvPr>
          <p:cNvSpPr/>
          <p:nvPr/>
        </p:nvSpPr>
        <p:spPr>
          <a:xfrm>
            <a:off x="661475" y="1851223"/>
            <a:ext cx="526511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Acquisition &amp; Verification</a:t>
            </a:r>
            <a:endParaRPr lang="en-US" sz="135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BF02BAFF-F3DF-7A43-CD18-BA17E61CA6ED}"/>
              </a:ext>
            </a:extLst>
          </p:cNvPr>
          <p:cNvSpPr/>
          <p:nvPr/>
        </p:nvSpPr>
        <p:spPr>
          <a:xfrm>
            <a:off x="661475" y="2170013"/>
            <a:ext cx="526511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Acquire and verify real patent data from USPTO-3M, HUPD, and BIGPATENT. Remove duplicates and extract sections.</a:t>
            </a:r>
            <a:endParaRPr lang="en-US" sz="105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82069213-2DA3-1DA0-42B6-D273EC733B15}"/>
              </a:ext>
            </a:extLst>
          </p:cNvPr>
          <p:cNvSpPr/>
          <p:nvPr/>
        </p:nvSpPr>
        <p:spPr>
          <a:xfrm>
            <a:off x="661475" y="2761159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05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712BA6C2-2923-8E59-513D-1D2D8071E021}"/>
              </a:ext>
            </a:extLst>
          </p:cNvPr>
          <p:cNvSpPr/>
          <p:nvPr/>
        </p:nvSpPr>
        <p:spPr>
          <a:xfrm>
            <a:off x="661475" y="2977852"/>
            <a:ext cx="52651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4AE31DA3-2449-7D82-62F5-278C2508E2CB}"/>
              </a:ext>
            </a:extLst>
          </p:cNvPr>
          <p:cNvSpPr/>
          <p:nvPr/>
        </p:nvSpPr>
        <p:spPr>
          <a:xfrm>
            <a:off x="661475" y="3085306"/>
            <a:ext cx="526511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Tokenization &amp; Chunking</a:t>
            </a:r>
            <a:endParaRPr lang="en-US" sz="135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4A07FA2C-321A-1195-A572-CB3398ABCD6F}"/>
              </a:ext>
            </a:extLst>
          </p:cNvPr>
          <p:cNvSpPr/>
          <p:nvPr/>
        </p:nvSpPr>
        <p:spPr>
          <a:xfrm>
            <a:off x="661475" y="3404096"/>
            <a:ext cx="526511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Tokenize and create overlapping chunks for each patent section.</a:t>
            </a:r>
            <a:endParaRPr lang="en-US" sz="105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AFC5262D-02C1-7123-4D73-8036BA869E53}"/>
              </a:ext>
            </a:extLst>
          </p:cNvPr>
          <p:cNvSpPr/>
          <p:nvPr/>
        </p:nvSpPr>
        <p:spPr>
          <a:xfrm>
            <a:off x="661475" y="3802658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05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D777B978-3DEE-CE70-A496-DC0DC2965BB3}"/>
              </a:ext>
            </a:extLst>
          </p:cNvPr>
          <p:cNvSpPr/>
          <p:nvPr/>
        </p:nvSpPr>
        <p:spPr>
          <a:xfrm>
            <a:off x="661475" y="4019352"/>
            <a:ext cx="52651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8B6D3582-841A-B07A-6F7F-B832A00A4091}"/>
              </a:ext>
            </a:extLst>
          </p:cNvPr>
          <p:cNvSpPr/>
          <p:nvPr/>
        </p:nvSpPr>
        <p:spPr>
          <a:xfrm>
            <a:off x="661475" y="4126805"/>
            <a:ext cx="526511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Loading &amp; Training</a:t>
            </a:r>
            <a:endParaRPr lang="en-US" sz="135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03226DB7-D59F-3CA0-0CF1-067D877B421C}"/>
              </a:ext>
            </a:extLst>
          </p:cNvPr>
          <p:cNvSpPr/>
          <p:nvPr/>
        </p:nvSpPr>
        <p:spPr>
          <a:xfrm>
            <a:off x="661475" y="4445595"/>
            <a:ext cx="526511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transformer on CUDA and train using PyTorch with BCEWithLogitsLoss. Save model checkpoints.</a:t>
            </a:r>
            <a:endParaRPr lang="en-US" sz="105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8C3F5C57-4A1B-08F3-0B5A-24155881C1F5}"/>
              </a:ext>
            </a:extLst>
          </p:cNvPr>
          <p:cNvSpPr/>
          <p:nvPr/>
        </p:nvSpPr>
        <p:spPr>
          <a:xfrm>
            <a:off x="661475" y="5036741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050" dirty="0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04F7D54D-5F59-3C8A-B630-BA280EFF434D}"/>
              </a:ext>
            </a:extLst>
          </p:cNvPr>
          <p:cNvSpPr/>
          <p:nvPr/>
        </p:nvSpPr>
        <p:spPr>
          <a:xfrm>
            <a:off x="661475" y="5253434"/>
            <a:ext cx="52651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436DA67B-80AC-5A03-C4B5-2F8B4107CDBA}"/>
              </a:ext>
            </a:extLst>
          </p:cNvPr>
          <p:cNvSpPr/>
          <p:nvPr/>
        </p:nvSpPr>
        <p:spPr>
          <a:xfrm>
            <a:off x="661475" y="5360888"/>
            <a:ext cx="526511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&amp; Frontend Integration</a:t>
            </a:r>
            <a:endParaRPr lang="en-US" sz="135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469E0779-E6EE-E308-1D16-DE4B17301142}"/>
              </a:ext>
            </a:extLst>
          </p:cNvPr>
          <p:cNvSpPr/>
          <p:nvPr/>
        </p:nvSpPr>
        <p:spPr>
          <a:xfrm>
            <a:off x="661475" y="5679678"/>
            <a:ext cx="526511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FastAPI endpoint, connect React frontend, and test with real patent documents.</a:t>
            </a:r>
            <a:endParaRPr lang="en-US" sz="105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6168C3F8-05CB-BD00-7A4E-AC73C8C12298}"/>
              </a:ext>
            </a:extLst>
          </p:cNvPr>
          <p:cNvSpPr/>
          <p:nvPr/>
        </p:nvSpPr>
        <p:spPr>
          <a:xfrm>
            <a:off x="6271460" y="1514376"/>
            <a:ext cx="526511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Training Configuration</a:t>
            </a:r>
            <a:endParaRPr lang="en-US" sz="1350" dirty="0"/>
          </a:p>
        </p:txBody>
      </p:sp>
      <p:graphicFrame>
        <p:nvGraphicFramePr>
          <p:cNvPr id="43" name="Table 0">
            <a:extLst>
              <a:ext uri="{FF2B5EF4-FFF2-40B4-BE49-F238E27FC236}">
                <a16:creationId xmlns:a16="http://schemas.microsoft.com/office/drawing/2014/main" id="{92A94A66-151E-40C6-7DD2-4D5DFA4F2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891843"/>
              </p:ext>
            </p:extLst>
          </p:nvPr>
        </p:nvGraphicFramePr>
        <p:xfrm>
          <a:off x="6271460" y="1845866"/>
          <a:ext cx="5265110" cy="1662965"/>
        </p:xfrm>
        <a:graphic>
          <a:graphicData uri="http://schemas.openxmlformats.org/drawingml/2006/table">
            <a:tbl>
              <a:tblPr/>
              <a:tblGrid>
                <a:gridCol w="210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GPU Model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CUDA Version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Batch Size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Epochs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Training Time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7944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28833398-C1FF-AFA1-0F4C-5C95DA70158C}"/>
              </a:ext>
            </a:extLst>
          </p:cNvPr>
          <p:cNvSpPr/>
          <p:nvPr/>
        </p:nvSpPr>
        <p:spPr>
          <a:xfrm>
            <a:off x="661475" y="1304330"/>
            <a:ext cx="1086874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Results &amp; Performance Evaluation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8771AEA-C8AB-A48D-A479-B55BA3918860}"/>
              </a:ext>
            </a:extLst>
          </p:cNvPr>
          <p:cNvSpPr/>
          <p:nvPr/>
        </p:nvSpPr>
        <p:spPr>
          <a:xfrm>
            <a:off x="661475" y="1785938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Experiment Configuration</a:t>
            </a:r>
            <a:endParaRPr lang="en-US" sz="1000" dirty="0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FD91D775-1DA9-0851-4F54-E3B315406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182385"/>
              </p:ext>
            </p:extLst>
          </p:nvPr>
        </p:nvGraphicFramePr>
        <p:xfrm>
          <a:off x="661475" y="2019399"/>
          <a:ext cx="5304698" cy="1782716"/>
        </p:xfrm>
        <a:graphic>
          <a:graphicData uri="http://schemas.openxmlformats.org/drawingml/2006/table">
            <a:tbl>
              <a:tblPr/>
              <a:tblGrid>
                <a:gridCol w="2652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2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Dataset Size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CPC Labels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Transformer Model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GPU Model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Training Time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Best Baseline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PatentClass-HAT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4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Main Observation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ext 4">
            <a:extLst>
              <a:ext uri="{FF2B5EF4-FFF2-40B4-BE49-F238E27FC236}">
                <a16:creationId xmlns:a16="http://schemas.microsoft.com/office/drawing/2014/main" id="{A7E45840-6328-4F1B-03BC-571DB7826214}"/>
              </a:ext>
            </a:extLst>
          </p:cNvPr>
          <p:cNvSpPr/>
          <p:nvPr/>
        </p:nvSpPr>
        <p:spPr>
          <a:xfrm>
            <a:off x="6231873" y="1785938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Comparative Results (To Be Filled)</a:t>
            </a:r>
            <a:endParaRPr lang="en-US" sz="1000" dirty="0"/>
          </a:p>
        </p:txBody>
      </p:sp>
      <p:graphicFrame>
        <p:nvGraphicFramePr>
          <p:cNvPr id="15" name="Table 1">
            <a:extLst>
              <a:ext uri="{FF2B5EF4-FFF2-40B4-BE49-F238E27FC236}">
                <a16:creationId xmlns:a16="http://schemas.microsoft.com/office/drawing/2014/main" id="{552BB1EB-D984-F055-EDD3-9304B7313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238936"/>
              </p:ext>
            </p:extLst>
          </p:nvPr>
        </p:nvGraphicFramePr>
        <p:xfrm>
          <a:off x="6231873" y="2019399"/>
          <a:ext cx="5304699" cy="2088505"/>
        </p:xfrm>
        <a:graphic>
          <a:graphicData uri="http://schemas.openxmlformats.org/drawingml/2006/table">
            <a:tbl>
              <a:tblPr/>
              <a:tblGrid>
                <a:gridCol w="1591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6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6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2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Model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Micro-F1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Macro-F1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Precision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Recall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Hamming Loss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TF-IDF + Logistic Regression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TF-IDF + SVM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CNN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BiLSTM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BERT Baseline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PatentBERT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PatentSBERTa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PatentClass-HAT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" name="Text 5">
            <a:extLst>
              <a:ext uri="{FF2B5EF4-FFF2-40B4-BE49-F238E27FC236}">
                <a16:creationId xmlns:a16="http://schemas.microsoft.com/office/drawing/2014/main" id="{8EEBB289-0757-775E-F0C9-43C04A566031}"/>
              </a:ext>
            </a:extLst>
          </p:cNvPr>
          <p:cNvSpPr/>
          <p:nvPr/>
        </p:nvSpPr>
        <p:spPr>
          <a:xfrm>
            <a:off x="661475" y="4277618"/>
            <a:ext cx="10868745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Additional Evaluation Metrics</a:t>
            </a:r>
            <a:endParaRPr lang="en-US" sz="1000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A89D5580-A9BC-34E0-ED0A-41F787693657}"/>
              </a:ext>
            </a:extLst>
          </p:cNvPr>
          <p:cNvSpPr/>
          <p:nvPr/>
        </p:nvSpPr>
        <p:spPr>
          <a:xfrm>
            <a:off x="661475" y="4533503"/>
            <a:ext cx="2672390" cy="572889"/>
          </a:xfrm>
          <a:prstGeom prst="roundRect">
            <a:avLst>
              <a:gd name="adj" fmla="val 779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25E9F8AB-6F11-66FF-8E53-5467CC49A028}"/>
              </a:ext>
            </a:extLst>
          </p:cNvPr>
          <p:cNvSpPr/>
          <p:nvPr/>
        </p:nvSpPr>
        <p:spPr>
          <a:xfrm>
            <a:off x="780435" y="4652466"/>
            <a:ext cx="2434470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Exact Match Ratio</a:t>
            </a:r>
            <a:endParaRPr lang="en-US" sz="10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F48F6F6-4DD6-F743-16FE-25299D98923B}"/>
              </a:ext>
            </a:extLst>
          </p:cNvPr>
          <p:cNvSpPr/>
          <p:nvPr/>
        </p:nvSpPr>
        <p:spPr>
          <a:xfrm>
            <a:off x="780435" y="4854476"/>
            <a:ext cx="2434470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</a:t>
            </a:r>
            <a:endParaRPr lang="en-US" sz="80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609F0015-F09C-C839-B9D0-3F5DAE3BCCB2}"/>
              </a:ext>
            </a:extLst>
          </p:cNvPr>
          <p:cNvSpPr/>
          <p:nvPr/>
        </p:nvSpPr>
        <p:spPr>
          <a:xfrm>
            <a:off x="3393593" y="4533503"/>
            <a:ext cx="2672390" cy="572889"/>
          </a:xfrm>
          <a:prstGeom prst="roundRect">
            <a:avLst>
              <a:gd name="adj" fmla="val 779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305A90CF-9E6A-341E-8382-54462AEF9933}"/>
              </a:ext>
            </a:extLst>
          </p:cNvPr>
          <p:cNvSpPr/>
          <p:nvPr/>
        </p:nvSpPr>
        <p:spPr>
          <a:xfrm>
            <a:off x="3512554" y="4652466"/>
            <a:ext cx="2434470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Hierarchical Precision</a:t>
            </a:r>
            <a:endParaRPr lang="en-US" sz="10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E3E6E86D-B811-33BC-EDA0-85AD2A4543DC}"/>
              </a:ext>
            </a:extLst>
          </p:cNvPr>
          <p:cNvSpPr/>
          <p:nvPr/>
        </p:nvSpPr>
        <p:spPr>
          <a:xfrm>
            <a:off x="3512554" y="4854476"/>
            <a:ext cx="2434470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</a:t>
            </a:r>
            <a:endParaRPr lang="en-US" sz="800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430E03AA-022A-67FA-FB6E-675386F94A03}"/>
              </a:ext>
            </a:extLst>
          </p:cNvPr>
          <p:cNvSpPr/>
          <p:nvPr/>
        </p:nvSpPr>
        <p:spPr>
          <a:xfrm>
            <a:off x="6125712" y="4533503"/>
            <a:ext cx="2672390" cy="572889"/>
          </a:xfrm>
          <a:prstGeom prst="roundRect">
            <a:avLst>
              <a:gd name="adj" fmla="val 779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F0150357-9699-FFDE-BBB1-550DB1E7300C}"/>
              </a:ext>
            </a:extLst>
          </p:cNvPr>
          <p:cNvSpPr/>
          <p:nvPr/>
        </p:nvSpPr>
        <p:spPr>
          <a:xfrm>
            <a:off x="6244672" y="4652466"/>
            <a:ext cx="2434470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Hierarchical Recall</a:t>
            </a:r>
            <a:endParaRPr lang="en-US" sz="100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0048BD77-A9B8-E8CC-3E39-5E26FBCA7E20}"/>
              </a:ext>
            </a:extLst>
          </p:cNvPr>
          <p:cNvSpPr/>
          <p:nvPr/>
        </p:nvSpPr>
        <p:spPr>
          <a:xfrm>
            <a:off x="6244672" y="4854476"/>
            <a:ext cx="2434470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</a:t>
            </a:r>
            <a:endParaRPr lang="en-US" sz="800" dirty="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2ED95E47-667A-8FE5-191E-62788BA86F24}"/>
              </a:ext>
            </a:extLst>
          </p:cNvPr>
          <p:cNvSpPr/>
          <p:nvPr/>
        </p:nvSpPr>
        <p:spPr>
          <a:xfrm>
            <a:off x="8857830" y="4533503"/>
            <a:ext cx="2672390" cy="572889"/>
          </a:xfrm>
          <a:prstGeom prst="roundRect">
            <a:avLst>
              <a:gd name="adj" fmla="val 779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2BA29046-9C0D-A1C5-1787-74607788B5DF}"/>
              </a:ext>
            </a:extLst>
          </p:cNvPr>
          <p:cNvSpPr/>
          <p:nvPr/>
        </p:nvSpPr>
        <p:spPr>
          <a:xfrm>
            <a:off x="8976790" y="4652466"/>
            <a:ext cx="2434470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Hierarchical F1</a:t>
            </a:r>
            <a:endParaRPr lang="en-US" sz="1000" dirty="0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C97F7C38-9C2B-31BC-2C71-F9911A74DD63}"/>
              </a:ext>
            </a:extLst>
          </p:cNvPr>
          <p:cNvSpPr/>
          <p:nvPr/>
        </p:nvSpPr>
        <p:spPr>
          <a:xfrm>
            <a:off x="8976790" y="4854476"/>
            <a:ext cx="2434470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</a:t>
            </a:r>
            <a:endParaRPr lang="en-US" sz="800" dirty="0"/>
          </a:p>
        </p:txBody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F83D33B4-4D14-23BF-5C9D-62BE62C7382B}"/>
              </a:ext>
            </a:extLst>
          </p:cNvPr>
          <p:cNvSpPr/>
          <p:nvPr/>
        </p:nvSpPr>
        <p:spPr>
          <a:xfrm>
            <a:off x="661475" y="5166122"/>
            <a:ext cx="5404509" cy="572889"/>
          </a:xfrm>
          <a:prstGeom prst="roundRect">
            <a:avLst>
              <a:gd name="adj" fmla="val 779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2FF00FE1-9A3E-681C-9964-D798F44A0289}"/>
              </a:ext>
            </a:extLst>
          </p:cNvPr>
          <p:cNvSpPr/>
          <p:nvPr/>
        </p:nvSpPr>
        <p:spPr>
          <a:xfrm>
            <a:off x="780435" y="5285085"/>
            <a:ext cx="5166588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Inference Time</a:t>
            </a:r>
            <a:endParaRPr lang="en-US" sz="1000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A2C11DFA-35DC-8595-8DBA-78DA6159A401}"/>
              </a:ext>
            </a:extLst>
          </p:cNvPr>
          <p:cNvSpPr/>
          <p:nvPr/>
        </p:nvSpPr>
        <p:spPr>
          <a:xfrm>
            <a:off x="780435" y="5487095"/>
            <a:ext cx="5166588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</a:t>
            </a:r>
            <a:endParaRPr lang="en-US" sz="800" dirty="0"/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3FFCB99A-3495-F0D4-D03D-E5D2DDC4618A}"/>
              </a:ext>
            </a:extLst>
          </p:cNvPr>
          <p:cNvSpPr/>
          <p:nvPr/>
        </p:nvSpPr>
        <p:spPr>
          <a:xfrm>
            <a:off x="6125712" y="5166122"/>
            <a:ext cx="5404509" cy="572889"/>
          </a:xfrm>
          <a:prstGeom prst="roundRect">
            <a:avLst>
              <a:gd name="adj" fmla="val 779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AEDFB660-673E-5360-28D1-12A0BD2E6D88}"/>
              </a:ext>
            </a:extLst>
          </p:cNvPr>
          <p:cNvSpPr/>
          <p:nvPr/>
        </p:nvSpPr>
        <p:spPr>
          <a:xfrm>
            <a:off x="6244672" y="5285085"/>
            <a:ext cx="5166588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GPU Memory Usage</a:t>
            </a:r>
            <a:endParaRPr lang="en-US" sz="1000" dirty="0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8C029F27-F7E9-4E22-AC8C-4A141210F081}"/>
              </a:ext>
            </a:extLst>
          </p:cNvPr>
          <p:cNvSpPr/>
          <p:nvPr/>
        </p:nvSpPr>
        <p:spPr>
          <a:xfrm>
            <a:off x="6244672" y="5487095"/>
            <a:ext cx="5166588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879568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 — End-to-End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0463" y="18928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1110463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Planning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papers, identify gaps, finalize architecture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 rot="5400000">
            <a:off x="2211781" y="3698748"/>
            <a:ext cx="146304" cy="146304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11" name="Shape 9"/>
          <p:cNvSpPr/>
          <p:nvPr/>
        </p:nvSpPr>
        <p:spPr>
          <a:xfrm>
            <a:off x="2394661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EEF1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002204" y="18928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002204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86101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Preprocessing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86101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0965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USPTO/CLEF-IP/WIPO, segment, tokenize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 rot="5400000">
            <a:off x="4103522" y="3698748"/>
            <a:ext cx="146304" cy="146304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18" name="Shape 16"/>
          <p:cNvSpPr/>
          <p:nvPr/>
        </p:nvSpPr>
        <p:spPr>
          <a:xfrm>
            <a:off x="4286402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3945" y="18928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/>
          <p:nvPr/>
        </p:nvSpPr>
        <p:spPr>
          <a:xfrm>
            <a:off x="4893945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77842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Implementation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Training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77842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2706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SciBERT/Legal-BERT/RoBERTa, hierarchical loss, constrained inference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 rot="5400000">
            <a:off x="5995264" y="3698748"/>
            <a:ext cx="146304" cy="146304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25" name="Shape 23"/>
          <p:cNvSpPr/>
          <p:nvPr/>
        </p:nvSpPr>
        <p:spPr>
          <a:xfrm>
            <a:off x="6178144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EEF1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785686" y="18928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785686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69584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69584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24448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LIME, attention viz, faithfulness &amp; trust study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 rot="5400000">
            <a:off x="7887005" y="3698748"/>
            <a:ext cx="146304" cy="146304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32" name="Shape 30"/>
          <p:cNvSpPr/>
          <p:nvPr/>
        </p:nvSpPr>
        <p:spPr>
          <a:xfrm>
            <a:off x="8069885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/>
        </p:spPr>
      </p:sp>
      <p:sp>
        <p:nvSpPr>
          <p:cNvPr id="33" name="Shape 31"/>
          <p:cNvSpPr/>
          <p:nvPr/>
        </p:nvSpPr>
        <p:spPr>
          <a:xfrm>
            <a:off x="8677427" y="18928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4" name="Text 32"/>
          <p:cNvSpPr/>
          <p:nvPr/>
        </p:nvSpPr>
        <p:spPr>
          <a:xfrm>
            <a:off x="8677427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161325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Analysis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161325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8–10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16189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hierarchical metrics, cross-dataset validation, ablations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 rot="5400000">
            <a:off x="9778746" y="3698748"/>
            <a:ext cx="146304" cy="146304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39" name="Shape 37"/>
          <p:cNvSpPr/>
          <p:nvPr/>
        </p:nvSpPr>
        <p:spPr>
          <a:xfrm>
            <a:off x="9961626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EEF1F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69169" y="18928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10569169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053066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Documentation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0053066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10–12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107930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web demo, final report &amp; presentation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DBE6749F-4B9F-C3BD-FE51-488FC835A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 — Timeline (Gantt)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5860" cy="42062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 &amp; prep.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implementation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training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&amp;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&amp;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 prep.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989320"/>
            <a:ext cx="201168" cy="201168"/>
          </a:xfrm>
          <a:prstGeom prst="roundRect">
            <a:avLst/>
          </a:prstGeom>
          <a:solidFill>
            <a:srgbClr val="D9A441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" y="59436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work in that week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6190DE-025C-1666-4AAE-0A2EF6AEE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447D7A5-4C91-E6B6-7DDA-6678A91262CF}"/>
              </a:ext>
            </a:extLst>
          </p:cNvPr>
          <p:cNvSpPr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SOURCES &amp; REFERENCES</a:t>
            </a:r>
            <a:endParaRPr lang="en-US" sz="13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D8C29AA-7DF1-E777-58CA-9C3FDA5E8B7F}"/>
              </a:ext>
            </a:extLst>
          </p:cNvPr>
          <p:cNvSpPr/>
          <p:nvPr/>
        </p:nvSpPr>
        <p:spPr>
          <a:xfrm>
            <a:off x="5029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Data — and the Ideas — Come From</a:t>
            </a:r>
            <a:endParaRPr lang="en-US" sz="260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52AF7698-7CC9-1995-D4FC-DF687918A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87558"/>
              </p:ext>
            </p:extLst>
          </p:nvPr>
        </p:nvGraphicFramePr>
        <p:xfrm>
          <a:off x="502920" y="1600200"/>
          <a:ext cx="6400800" cy="32918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uspto.gov/learning-and-resources/electronic-data-products/patent-classification-dataset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CLEF-IP 2011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clef-initiative.eu/track/clef-ip-2023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WIPO patent corpus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wipo.int/standards/en/ipc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ccdv/patent-classification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huggingface.co/datasets/ccdv/patent-classification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Taiwan Patent Data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tipo.gov.tw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2">
            <a:extLst>
              <a:ext uri="{FF2B5EF4-FFF2-40B4-BE49-F238E27FC236}">
                <a16:creationId xmlns:a16="http://schemas.microsoft.com/office/drawing/2014/main" id="{FA22CFBD-16B4-B02A-CB48-D53303FF422E}"/>
              </a:ext>
            </a:extLst>
          </p:cNvPr>
          <p:cNvSpPr/>
          <p:nvPr/>
        </p:nvSpPr>
        <p:spPr>
          <a:xfrm>
            <a:off x="502920" y="47904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Core references: Lee &amp; Hsiang (2020) • Risch et al. (2020) • Pujari et al. (2021) • Yadrintsev et al. (2022) • Bekamiri et al. (2024) • Condevaux &amp; Harispe (2023) • Sahu et al. (2023) • Xie et al. (2024) • Emer et al. (2026) • Lin (2026) • Lis &amp; Rutkowski (2026) • Ayaou &amp; Cavallucci (2025)</a:t>
            </a:r>
            <a:endParaRPr lang="en-US" sz="95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C090F1E1-29C5-052A-9C3E-82DA6B694ED2}"/>
              </a:ext>
            </a:extLst>
          </p:cNvPr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E8086417-B6D3-40B2-B698-7864D0942B90}"/>
              </a:ext>
            </a:extLst>
          </p:cNvPr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7F324C5-05BE-18A7-FA9A-25BD0DA79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38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2758</Words>
  <Application>Microsoft Office PowerPoint</Application>
  <PresentationFormat>Widescreen</PresentationFormat>
  <Paragraphs>589</Paragraphs>
  <Slides>28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Cambria</vt:lpstr>
      <vt:lpstr>Raleway</vt:lpstr>
      <vt:lpstr>Raleway Light</vt:lpstr>
      <vt:lpstr>Roboto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prakash.chawla2007@outlook.com</cp:lastModifiedBy>
  <cp:revision>9</cp:revision>
  <dcterms:created xsi:type="dcterms:W3CDTF">2026-08-14T07:06:27Z</dcterms:created>
  <dcterms:modified xsi:type="dcterms:W3CDTF">2026-09-17T05:11:02Z</dcterms:modified>
</cp:coreProperties>
</file>